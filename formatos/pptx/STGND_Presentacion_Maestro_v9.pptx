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E97700"/>
            </a:solidFill>
            <a:ln>
              <a:solidFill>
                <a:srgbClr val="E97700"/>
              </a:solidFill>
            </a:ln>
          </c:spPr>
          <c:cat>
            <c:strRef>
              <c:f>Sheet1!$A$2:$A$6</c:f>
              <c:strCache>
                <c:ptCount val="5"/>
                <c:pt idx="0">
                  <c:v>Categoría A</c:v>
                </c:pt>
                <c:pt idx="1">
                  <c:v>Categoría B</c:v>
                </c:pt>
                <c:pt idx="2">
                  <c:v>Categoría C</c:v>
                </c:pt>
                <c:pt idx="3">
                  <c:v>Categoría D</c:v>
                </c:pt>
                <c:pt idx="4">
                  <c:v>Categoría 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82</c:v>
                </c:pt>
                <c:pt idx="1">
                  <c:v>64</c:v>
                </c:pt>
                <c:pt idx="2">
                  <c:v>47</c:v>
                </c:pt>
                <c:pt idx="3">
                  <c:v>31</c:v>
                </c:pt>
                <c:pt idx="4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-stg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0040"/>
            <a:ext cx="2011680" cy="5833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7700"/>
                </a:solidFill>
                <a:latin typeface="Aptos"/>
              </a:rPr>
              <a:t>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33172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4C2B46"/>
                </a:solidFill>
                <a:latin typeface="Aptos Display"/>
              </a:rPr>
              <a:t>Título de la
presentación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37033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22222"/>
                </a:solidFill>
                <a:latin typeface="Aptos"/>
              </a:rPr>
              <a:t>Subtítulo descriptivo o bajada editorial.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4622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97700"/>
                </a:solidFill>
                <a:latin typeface="Aptos"/>
              </a:rPr>
              <a:t>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9464040" y="3886200"/>
            <a:ext cx="2724912" cy="2971800"/>
          </a:xfrm>
          <a:prstGeom prst="rect">
            <a:avLst/>
          </a:prstGeom>
          <a:solidFill>
            <a:srgbClr val="4C2B46"/>
          </a:solidFill>
          <a:ln>
            <a:solidFill>
              <a:srgbClr val="4C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27080" y="3401568"/>
            <a:ext cx="1261872" cy="484632"/>
          </a:xfrm>
          <a:prstGeom prst="rect">
            <a:avLst/>
          </a:prstGeom>
          <a:solidFill>
            <a:srgbClr val="E97700"/>
          </a:solidFill>
          <a:ln>
            <a:solidFill>
              <a:srgbClr val="E9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-stg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1920240" cy="5568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7700"/>
                </a:solidFill>
                <a:latin typeface="Aptos"/>
              </a:rPr>
              <a:t>01 ·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>
                <a:solidFill>
                  <a:srgbClr val="4C2B46"/>
                </a:solidFill>
                <a:latin typeface="Aptos Display"/>
              </a:rPr>
              <a:t>Título de 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423160"/>
            <a:ext cx="6949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222222"/>
                </a:solidFill>
                <a:latin typeface="Aptos"/>
              </a:rPr>
              <a:t>Texto de apoyo editable para desarrollar antecedentes, objetivos o una idea principal. La tipografía aumenta respecto de la versión anterior y conserva el uso generoso del espacio.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0" y="1463040"/>
            <a:ext cx="2834640" cy="3611880"/>
          </a:xfrm>
          <a:prstGeom prst="rect">
            <a:avLst/>
          </a:prstGeom>
          <a:solidFill>
            <a:srgbClr val="EFEDEF"/>
          </a:solidFill>
          <a:ln>
            <a:solidFill>
              <a:srgbClr val="EFE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0" y="187451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7700"/>
                </a:solidFill>
                <a:latin typeface="Aptos"/>
              </a:rPr>
              <a:t>IDEA CLAVE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233172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C2B46"/>
                </a:solidFill>
                <a:latin typeface="Aptos"/>
              </a:rPr>
              <a:t>Una formulación breve que concentre el criterio o hallazgo principal.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4C2B46"/>
          </a:solidFill>
          <a:ln>
            <a:solidFill>
              <a:srgbClr val="4C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tg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0040"/>
            <a:ext cx="2011680" cy="583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0"/>
            <a:ext cx="1188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97700"/>
                </a:solidFill>
                <a:latin typeface="Aptos Display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82880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Aptos Display"/>
              </a:rPr>
              <a:t>Segunda sección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1952" y="2816352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Palabra clave · evidencia · análisis · impacto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-stg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1920240" cy="5568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960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7700"/>
                </a:solidFill>
                <a:latin typeface="Aptos"/>
              </a:rPr>
              <a:t>03 · HALLAZGOS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98448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4C2B46"/>
                </a:solidFill>
                <a:latin typeface="Aptos Display"/>
              </a:rPr>
              <a:t>Evidencia y lectura de resultados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39112"/>
            <a:ext cx="7955279" cy="960120"/>
          </a:xfrm>
          <a:prstGeom prst="rect">
            <a:avLst/>
          </a:prstGeom>
          <a:solidFill>
            <a:srgbClr val="4C2B46"/>
          </a:solidFill>
          <a:ln>
            <a:solidFill>
              <a:srgbClr val="4C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7627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97700"/>
                </a:solidFill>
                <a:latin typeface="Aptos"/>
              </a:rPr>
              <a:t>58%
PARTICIPACIÓN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217627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97700"/>
                </a:solidFill>
                <a:latin typeface="Aptos"/>
              </a:rPr>
              <a:t>23
CASOS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217627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97700"/>
                </a:solidFill>
                <a:latin typeface="Aptos"/>
              </a:rPr>
              <a:t>4,2
ÍNDICE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3429000"/>
          <a:ext cx="576072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06640" y="3520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7700"/>
                </a:solidFill>
                <a:latin typeface="Aptos"/>
              </a:rPr>
              <a:t>LECTURA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385876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C2B46"/>
                </a:solidFill>
                <a:latin typeface="Aptos"/>
              </a:rPr>
              <a:t>Hallazgo principal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4370832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Aptos"/>
              </a:rPr>
              <a:t>Describa qué muestra la visualización, qué comparación es relevante y cuáles son los límites de la inferencia.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4C2B46"/>
          </a:solidFill>
          <a:ln>
            <a:solidFill>
              <a:srgbClr val="4C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stg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65760"/>
            <a:ext cx="2011680" cy="583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1488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Aptos Display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4406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secretariadegenero.pjud.cl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5074920"/>
            <a:ext cx="502920" cy="45720"/>
          </a:xfrm>
          <a:prstGeom prst="rect">
            <a:avLst/>
          </a:prstGeom>
          <a:solidFill>
            <a:srgbClr val="E97700"/>
          </a:solidFill>
          <a:ln>
            <a:solidFill>
              <a:srgbClr val="E9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222222"/>
      </a:dk2>
      <a:lt2>
        <a:srgbClr val="EFEDEF"/>
      </a:lt2>
      <a:accent1>
        <a:srgbClr val="4C2B46"/>
      </a:accent1>
      <a:accent2>
        <a:srgbClr val="E97700"/>
      </a:accent2>
      <a:accent3>
        <a:srgbClr val="2D6673"/>
      </a:accent3>
      <a:accent4>
        <a:srgbClr val="809477"/>
      </a:accent4>
      <a:accent5>
        <a:srgbClr val="C9B58B"/>
      </a:accent5>
      <a:accent6>
        <a:srgbClr val="6F6F6F"/>
      </a:accent6>
      <a:hlink>
        <a:srgbClr val="2D6673"/>
      </a:hlink>
      <a:folHlink>
        <a:srgbClr val="4C2B46"/>
      </a:folHlink>
    </a:clrScheme>
    <a:fontScheme name="Office">
      <a:maj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maestra STGND v9.5</dc:title>
  <dc:subject>Patrón editable con identidad STG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