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3" r:id="rId14"/>
    <p:sldId id="264" r:id="rId15"/>
    <p:sldId id="256" r:id="rId2"/>
    <p:sldId id="257" r:id="rId3"/>
    <p:sldId id="258" r:id="rId4"/>
    <p:sldId id="259" r:id="rId5"/>
    <p:sldId id="260" r:id="rId6"/>
    <p:sldId id="261" r:id="rId7"/>
    <p:sldId id="265" r:id="rId16"/>
    <p:sldId id="266" r:id="rId17"/>
    <p:sldId id="267" r:id="rId18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</c:v>
                </c:pt>
              </c:strCache>
            </c:strRef>
          </c:tx>
          <c:spPr>
            <a:solidFill>
              <a:srgbClr val="4C2B46"/>
            </a:solidFill>
          </c:spPr>
          <c:cat>
            <c:strRef>
              <c:f>Sheet1!$A$2:$A$6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82</c:v>
                </c:pt>
                <c:pt idx="1">
                  <c:v>64</c:v>
                </c:pt>
                <c:pt idx="2">
                  <c:v>47</c:v>
                </c:pt>
                <c:pt idx="3">
                  <c:v>31</c:v>
                </c:pt>
                <c:pt idx="4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</c:v>
                </c:pt>
              </c:strCache>
            </c:strRef>
          </c:tx>
          <c:spPr>
            <a:solidFill>
              <a:srgbClr val="4C2B46"/>
            </a:solidFill>
          </c:spPr>
          <c:dPt>
            <c:idx val="0"/>
            <c:spPr>
              <a:solidFill>
                <a:srgbClr val="4C2B46"/>
              </a:solidFill>
            </c:spPr>
          </c:dPt>
          <c:dPt>
            <c:idx val="1"/>
            <c:spPr>
              <a:solidFill>
                <a:srgbClr val="E97700"/>
              </a:solidFill>
            </c:spPr>
          </c:dPt>
          <c:dPt>
            <c:idx val="2"/>
            <c:spPr>
              <a:solidFill>
                <a:srgbClr val="896F83"/>
              </a:solidFill>
            </c:spPr>
          </c:dPt>
          <c:dPt>
            <c:idx val="3"/>
            <c:spPr>
              <a:solidFill>
                <a:srgbClr val="CFC6CC"/>
              </a:solidFill>
            </c:spPr>
          </c:dPt>
          <c:dPt>
            <c:idx val="4"/>
            <c:spPr>
              <a:solidFill>
                <a:srgbClr val="623F5B"/>
              </a:solidFill>
            </c:spPr>
          </c:dPt>
          <c:cat>
            <c:strRef>
              <c:f>Sheet1!$A$2:$A$6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82</c:v>
                </c:pt>
                <c:pt idx="1">
                  <c:v>64</c:v>
                </c:pt>
                <c:pt idx="2">
                  <c:v>47</c:v>
                </c:pt>
                <c:pt idx="3">
                  <c:v>31</c:v>
                </c:pt>
                <c:pt idx="4">
                  <c:v>18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</c:v>
                </c:pt>
              </c:strCache>
            </c:strRef>
          </c:tx>
          <c:spPr>
            <a:solidFill>
              <a:srgbClr val="4C2B46"/>
            </a:solidFill>
          </c:spPr>
          <c:cat>
            <c:strRef>
              <c:f>Sheet1!$A$2:$A$6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82</c:v>
                </c:pt>
                <c:pt idx="1">
                  <c:v>64</c:v>
                </c:pt>
                <c:pt idx="2">
                  <c:v>47</c:v>
                </c:pt>
                <c:pt idx="3">
                  <c:v>31</c:v>
                </c:pt>
                <c:pt idx="4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Referencia</c:v>
                </c:pt>
              </c:strCache>
            </c:strRef>
          </c:tx>
          <c:spPr>
            <a:solidFill>
              <a:srgbClr val="E97700"/>
            </a:solidFill>
          </c:spPr>
          <c:cat>
            <c:strRef>
              <c:f>Sheet1!$A$2:$A$6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70</c:v>
                </c:pt>
                <c:pt idx="1">
                  <c:v>58</c:v>
                </c:pt>
                <c:pt idx="2">
                  <c:v>52</c:v>
                </c:pt>
                <c:pt idx="3">
                  <c:v>40</c:v>
                </c:pt>
                <c:pt idx="4">
                  <c:v>25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</c:v>
                </c:pt>
              </c:strCache>
            </c:strRef>
          </c:tx>
          <c:spPr>
            <a:solidFill>
              <a:srgbClr val="4C2B46"/>
            </a:solidFill>
          </c:spPr>
          <c:cat>
            <c:strRef>
              <c:f>Sheet1!$A$2:$A$6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82</c:v>
                </c:pt>
                <c:pt idx="1">
                  <c:v>64</c:v>
                </c:pt>
                <c:pt idx="2">
                  <c:v>47</c:v>
                </c:pt>
                <c:pt idx="3">
                  <c:v>31</c:v>
                </c:pt>
                <c:pt idx="4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Referencia</c:v>
                </c:pt>
              </c:strCache>
            </c:strRef>
          </c:tx>
          <c:spPr>
            <a:solidFill>
              <a:srgbClr val="E97700"/>
            </a:solidFill>
          </c:spPr>
          <c:cat>
            <c:strRef>
              <c:f>Sheet1!$A$2:$A$6</c:f>
              <c:strCache>
                <c:ptCount val="5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70</c:v>
                </c:pt>
                <c:pt idx="1">
                  <c:v>58</c:v>
                </c:pt>
                <c:pt idx="2">
                  <c:v>52</c:v>
                </c:pt>
                <c:pt idx="3">
                  <c:v>40</c:v>
                </c:pt>
                <c:pt idx="4">
                  <c:v>25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-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Catalogo_STGND_Documentos_v8_Riguroso/assets/logo-stgnd.png">    </p:cNvPr>
          <p:cNvPicPr>
            <a:picLocks noChangeAspect="1"/>
          </p:cNvPicPr>
          <p:nvPr/>
        </p:nvPicPr>
        <p:blipFill>
          <a:blip r:embed="rId1">
            <a:alphaModFix amt="72000"/>
          </a:blip>
          <a:stretch>
            <a:fillRect/>
          </a:stretch>
        </p:blipFill>
        <p:spPr>
          <a:xfrm>
            <a:off x="8631936" y="292608"/>
            <a:ext cx="2139696" cy="594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473184" y="3785616"/>
            <a:ext cx="2715768" cy="3072384"/>
          </a:xfrm>
          <a:prstGeom prst="rect">
            <a:avLst/>
          </a:prstGeom>
          <a:solidFill>
            <a:srgbClr val="4C2B46"/>
          </a:solidFill>
          <a:ln w="12700">
            <a:solidFill>
              <a:srgbClr val="4C2B4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10954512" y="3401568"/>
            <a:ext cx="1234440" cy="384048"/>
          </a:xfrm>
          <a:prstGeom prst="rect">
            <a:avLst/>
          </a:prstGeom>
          <a:solidFill>
            <a:srgbClr val="E97700"/>
          </a:solidFill>
          <a:ln w="12700">
            <a:solidFill>
              <a:srgbClr val="E9770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0" y="1993392"/>
            <a:ext cx="1682496" cy="0"/>
          </a:xfrm>
          <a:prstGeom prst="line">
            <a:avLst/>
          </a:prstGeom>
          <a:noFill/>
          <a:ln w="12700">
            <a:solidFill>
              <a:srgbClr val="E97700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901952" y="1920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TEMA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901952" y="23317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4C2B4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Presentación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901952" y="2852928"/>
            <a:ext cx="5943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C2B4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Título de la actividad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1901952" y="34015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Subtítulo descriptivo o bajada editorial que contextualiza el alcance del documento.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901952" y="3986784"/>
            <a:ext cx="457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77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━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901952" y="44256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77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2025–2026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901952" y="480060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F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de documento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449824" y="6428232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77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━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498848" y="6565392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secretariadegenero.pjud.cl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Catalogo_STGND_Documentos_v8_Riguroso/assets/logo-stgnd.png">    </p:cNvPr>
          <p:cNvPicPr>
            <a:picLocks noChangeAspect="1"/>
          </p:cNvPicPr>
          <p:nvPr/>
        </p:nvPicPr>
        <p:blipFill>
          <a:blip r:embed="rId1">
            <a:alphaModFix amt="72000"/>
          </a:blip>
          <a:stretch>
            <a:fillRect/>
          </a:stretch>
        </p:blipFill>
        <p:spPr>
          <a:xfrm>
            <a:off x="8631936" y="292608"/>
            <a:ext cx="2139696" cy="594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104120" y="0"/>
            <a:ext cx="2084832" cy="219456"/>
          </a:xfrm>
          <a:prstGeom prst="rect">
            <a:avLst/>
          </a:prstGeom>
          <a:solidFill>
            <a:srgbClr val="4C2B46"/>
          </a:solidFill>
          <a:ln w="12700">
            <a:solidFill>
              <a:srgbClr val="4C2B4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11045952" y="6656832"/>
            <a:ext cx="1143000" cy="201168"/>
          </a:xfrm>
          <a:prstGeom prst="rect">
            <a:avLst/>
          </a:prstGeom>
          <a:solidFill>
            <a:srgbClr val="E97700"/>
          </a:solidFill>
          <a:ln w="12700">
            <a:solidFill>
              <a:srgbClr val="E9770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13232" y="1005840"/>
            <a:ext cx="7680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4C2B4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Agenda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713232" y="149961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F6F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Estructura de contenidos y decisiones de trabajo.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13232" y="1865376"/>
            <a:ext cx="493776" cy="0"/>
          </a:xfrm>
          <a:prstGeom prst="line">
            <a:avLst/>
          </a:prstGeom>
          <a:noFill/>
          <a:ln w="12700">
            <a:solidFill>
              <a:srgbClr val="E97700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5449824" y="6428232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77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━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498848" y="6565392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secretariadegenero.pjud.cl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1292840" y="1929384"/>
            <a:ext cx="530352" cy="0"/>
          </a:xfrm>
          <a:prstGeom prst="line">
            <a:avLst/>
          </a:prstGeom>
          <a:noFill/>
          <a:ln w="10160">
            <a:solidFill>
              <a:srgbClr val="E97700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932688" y="239572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77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536192" y="2377440"/>
            <a:ext cx="5715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C2B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Antecedentes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1536192" y="2706624"/>
            <a:ext cx="5897880" cy="0"/>
          </a:xfrm>
          <a:prstGeom prst="line">
            <a:avLst/>
          </a:prstGeom>
          <a:noFill/>
          <a:ln w="7620">
            <a:solidFill>
              <a:srgbClr val="DEDADF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932688" y="292608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77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536192" y="2907792"/>
            <a:ext cx="5715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C2B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1536192" y="3236976"/>
            <a:ext cx="5897880" cy="0"/>
          </a:xfrm>
          <a:prstGeom prst="line">
            <a:avLst/>
          </a:prstGeom>
          <a:noFill/>
          <a:ln w="7620">
            <a:solidFill>
              <a:srgbClr val="DEDAD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32688" y="345643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77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1536192" y="3438144"/>
            <a:ext cx="5715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C2B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Análisis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1536192" y="3767328"/>
            <a:ext cx="5897880" cy="0"/>
          </a:xfrm>
          <a:prstGeom prst="line">
            <a:avLst/>
          </a:prstGeom>
          <a:noFill/>
          <a:ln w="7620">
            <a:solidFill>
              <a:srgbClr val="DEDADF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932688" y="398678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77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536192" y="3968496"/>
            <a:ext cx="5715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C2B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Hallazgos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1536192" y="4297680"/>
            <a:ext cx="5897880" cy="0"/>
          </a:xfrm>
          <a:prstGeom prst="line">
            <a:avLst/>
          </a:prstGeom>
          <a:noFill/>
          <a:ln w="7620">
            <a:solidFill>
              <a:srgbClr val="DEDADF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932688" y="451713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977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1536192" y="4498848"/>
            <a:ext cx="5715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C2B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Próximos pasos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1536192" y="4828032"/>
            <a:ext cx="5897880" cy="0"/>
          </a:xfrm>
          <a:prstGeom prst="line">
            <a:avLst/>
          </a:prstGeom>
          <a:noFill/>
          <a:ln w="7620">
            <a:solidFill>
              <a:srgbClr val="DEDADF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Catalogo_STGND_Documentos_v8_Riguroso/assets/logo-stgnd.png">    </p:cNvPr>
          <p:cNvPicPr>
            <a:picLocks noChangeAspect="1"/>
          </p:cNvPicPr>
          <p:nvPr/>
        </p:nvPicPr>
        <p:blipFill>
          <a:blip r:embed="rId1">
            <a:alphaModFix amt="72000"/>
          </a:blip>
          <a:stretch>
            <a:fillRect/>
          </a:stretch>
        </p:blipFill>
        <p:spPr>
          <a:xfrm>
            <a:off x="8631936" y="292608"/>
            <a:ext cx="2139696" cy="594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1060704"/>
            <a:ext cx="3419856" cy="1920240"/>
          </a:xfrm>
          <a:prstGeom prst="rect">
            <a:avLst/>
          </a:prstGeom>
          <a:solidFill>
            <a:srgbClr val="4C2B46"/>
          </a:solidFill>
          <a:ln w="12700">
            <a:solidFill>
              <a:srgbClr val="4C2B4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4078224" y="1060704"/>
            <a:ext cx="5623560" cy="1920240"/>
          </a:xfrm>
          <a:prstGeom prst="rect">
            <a:avLst/>
          </a:prstGeom>
          <a:solidFill>
            <a:srgbClr val="E97700"/>
          </a:solidFill>
          <a:ln w="12700">
            <a:solidFill>
              <a:srgbClr val="E9770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1051560" y="140817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051560" y="1755648"/>
            <a:ext cx="2121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Segunda sección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 tema del documento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960120" y="349300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4C2B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TEXTO META O PALABRA CLAVE SENCILLA DEL TEMA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960120" y="4041648"/>
            <a:ext cx="1554480" cy="0"/>
          </a:xfrm>
          <a:prstGeom prst="line">
            <a:avLst/>
          </a:prstGeom>
          <a:noFill/>
          <a:ln w="12700">
            <a:solidFill>
              <a:srgbClr val="E97700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960120" y="4297680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F6F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IDEAS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960120" y="4562856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F6F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960120" y="4828032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F6F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960120" y="5093208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F6F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ANÁLISIS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960120" y="5358384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F6F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IMPACTO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960120" y="5623560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F6F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DATOS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449824" y="6428232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77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━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498848" y="6565392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secretariadegenero.pjud.cl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11292840" y="1929384"/>
            <a:ext cx="530352" cy="0"/>
          </a:xfrm>
          <a:prstGeom prst="line">
            <a:avLst/>
          </a:prstGeom>
          <a:noFill/>
          <a:ln w="10160">
            <a:solidFill>
              <a:srgbClr val="E97700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Catalogo_STGND_Documentos_v8_Riguroso/assets/logo-stgnd.png">    </p:cNvPr>
          <p:cNvPicPr>
            <a:picLocks noChangeAspect="1"/>
          </p:cNvPicPr>
          <p:nvPr/>
        </p:nvPicPr>
        <p:blipFill>
          <a:blip r:embed="rId1">
            <a:alphaModFix amt="72000"/>
          </a:blip>
          <a:stretch>
            <a:fillRect/>
          </a:stretch>
        </p:blipFill>
        <p:spPr>
          <a:xfrm>
            <a:off x="8631936" y="292608"/>
            <a:ext cx="2139696" cy="594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104120" y="0"/>
            <a:ext cx="2084832" cy="219456"/>
          </a:xfrm>
          <a:prstGeom prst="rect">
            <a:avLst/>
          </a:prstGeom>
          <a:solidFill>
            <a:srgbClr val="4C2B46"/>
          </a:solidFill>
          <a:ln w="12700">
            <a:solidFill>
              <a:srgbClr val="4C2B4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11045952" y="6656832"/>
            <a:ext cx="1143000" cy="201168"/>
          </a:xfrm>
          <a:prstGeom prst="rect">
            <a:avLst/>
          </a:prstGeom>
          <a:solidFill>
            <a:srgbClr val="E97700"/>
          </a:solidFill>
          <a:ln w="12700">
            <a:solidFill>
              <a:srgbClr val="E9770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13232" y="1005840"/>
            <a:ext cx="7680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4C2B4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Planteamiento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713232" y="149961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F6F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Párrafos normalizados y bloques editoriales.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13232" y="1865376"/>
            <a:ext cx="493776" cy="0"/>
          </a:xfrm>
          <a:prstGeom prst="line">
            <a:avLst/>
          </a:prstGeom>
          <a:noFill/>
          <a:ln w="12700">
            <a:solidFill>
              <a:srgbClr val="E97700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5449824" y="6428232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77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━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498848" y="6565392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secretariadegenero.pjud.cl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1292840" y="1929384"/>
            <a:ext cx="530352" cy="0"/>
          </a:xfrm>
          <a:prstGeom prst="line">
            <a:avLst/>
          </a:prstGeom>
          <a:noFill/>
          <a:ln w="10160">
            <a:solidFill>
              <a:srgbClr val="E97700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04672" y="22402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2B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Antecedentes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04672" y="2615184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Desarrolle el contexto en párrafos breves. La plantilla usa Aptos 11 para mantener consistencia en la lectura y evitar densidades excesivas.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715000" y="2221992"/>
            <a:ext cx="3520440" cy="1051560"/>
          </a:xfrm>
          <a:prstGeom prst="rect">
            <a:avLst/>
          </a:prstGeom>
          <a:solidFill>
            <a:srgbClr val="EFEDEF"/>
          </a:solidFill>
          <a:ln w="12700">
            <a:solidFill>
              <a:srgbClr val="EFEDE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053328" y="2478024"/>
            <a:ext cx="281635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E977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HIPÓTESIS / IDEA CLAVE</a:t>
            </a:r>
            <a:endParaRPr lang="en-US" sz="650" dirty="0"/>
          </a:p>
        </p:txBody>
      </p:sp>
      <p:sp>
        <p:nvSpPr>
          <p:cNvPr id="16" name="Text 13"/>
          <p:cNvSpPr/>
          <p:nvPr/>
        </p:nvSpPr>
        <p:spPr>
          <a:xfrm>
            <a:off x="6053328" y="2660904"/>
            <a:ext cx="2816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C2B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“Una formulación breve que concentre la tesis, hallazgo o criterio de lectura.”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04672" y="395020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2B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Análisis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04672" y="4315968"/>
            <a:ext cx="7909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Texto de trabajo editable. Puede duplicar bloques, insertar citas o reemplazar este contenido por texto definitivo.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Catalogo_STGND_Documentos_v8_Riguroso/assets/logo-stgnd.png">    </p:cNvPr>
          <p:cNvPicPr>
            <a:picLocks noChangeAspect="1"/>
          </p:cNvPicPr>
          <p:nvPr/>
        </p:nvPicPr>
        <p:blipFill>
          <a:blip r:embed="rId1">
            <a:alphaModFix amt="72000"/>
          </a:blip>
          <a:stretch>
            <a:fillRect/>
          </a:stretch>
        </p:blipFill>
        <p:spPr>
          <a:xfrm>
            <a:off x="8631936" y="292608"/>
            <a:ext cx="2139696" cy="594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104120" y="0"/>
            <a:ext cx="2084832" cy="219456"/>
          </a:xfrm>
          <a:prstGeom prst="rect">
            <a:avLst/>
          </a:prstGeom>
          <a:solidFill>
            <a:srgbClr val="4C2B46"/>
          </a:solidFill>
          <a:ln w="12700">
            <a:solidFill>
              <a:srgbClr val="4C2B4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11045952" y="6656832"/>
            <a:ext cx="1143000" cy="201168"/>
          </a:xfrm>
          <a:prstGeom prst="rect">
            <a:avLst/>
          </a:prstGeom>
          <a:solidFill>
            <a:srgbClr val="E97700"/>
          </a:solidFill>
          <a:ln w="12700">
            <a:solidFill>
              <a:srgbClr val="E9770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13232" y="1005840"/>
            <a:ext cx="7680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4C2B4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Evidencia y lectura de resultados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713232" y="149961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F6F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HALLAZGOS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13232" y="1865376"/>
            <a:ext cx="493776" cy="0"/>
          </a:xfrm>
          <a:prstGeom prst="line">
            <a:avLst/>
          </a:prstGeom>
          <a:noFill/>
          <a:ln w="12700">
            <a:solidFill>
              <a:srgbClr val="E97700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5449824" y="6428232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77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━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498848" y="6565392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secretariadegenero.pjud.cl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1292840" y="1929384"/>
            <a:ext cx="530352" cy="0"/>
          </a:xfrm>
          <a:prstGeom prst="line">
            <a:avLst/>
          </a:prstGeom>
          <a:noFill/>
          <a:ln w="10160">
            <a:solidFill>
              <a:srgbClr val="E9770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731520" y="1956816"/>
            <a:ext cx="8458200" cy="786384"/>
          </a:xfrm>
          <a:prstGeom prst="rect">
            <a:avLst/>
          </a:prstGeom>
          <a:solidFill>
            <a:srgbClr val="4C2B46"/>
          </a:solidFill>
          <a:ln w="12700">
            <a:solidFill>
              <a:srgbClr val="4C2B4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143000" y="21031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E977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932688" y="2459736"/>
            <a:ext cx="20848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PARTICIPACIÓN OBSERVADA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3931920" y="21031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E977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3721608" y="2459736"/>
            <a:ext cx="20848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CASOS ANALIZADOS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6720840" y="21031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E977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4,2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6510528" y="2459736"/>
            <a:ext cx="20848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ÍNDICE COMPARADO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868680" y="3246120"/>
            <a:ext cx="822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E977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FIGURA 01</a:t>
            </a:r>
            <a:endParaRPr lang="en-US" sz="700" dirty="0"/>
          </a:p>
        </p:txBody>
      </p:sp>
      <p:sp>
        <p:nvSpPr>
          <p:cNvPr id="41" name="Text 38"/>
          <p:cNvSpPr/>
          <p:nvPr/>
        </p:nvSpPr>
        <p:spPr>
          <a:xfrm>
            <a:off x="6473952" y="3246120"/>
            <a:ext cx="731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E977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</a:t>
            </a:r>
            <a:endParaRPr lang="en-US" sz="700" dirty="0"/>
          </a:p>
        </p:txBody>
      </p:sp>
      <p:sp>
        <p:nvSpPr>
          <p:cNvPr id="42" name="Text 39"/>
          <p:cNvSpPr/>
          <p:nvPr/>
        </p:nvSpPr>
        <p:spPr>
          <a:xfrm>
            <a:off x="6473952" y="345643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2B4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Hallazgo principal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6473952" y="3822192"/>
            <a:ext cx="24871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Describa qué muestra la visualización, qué comparación es relevante y qué límites tiene la inferencia.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6473952" y="4754880"/>
            <a:ext cx="475488" cy="0"/>
          </a:xfrm>
          <a:prstGeom prst="line">
            <a:avLst/>
          </a:prstGeom>
          <a:noFill/>
          <a:ln w="12700">
            <a:solidFill>
              <a:srgbClr val="E9770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6473952" y="495604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F6F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Fuente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F6F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[Fuente, fecha y universo]</a:t>
            </a:r>
            <a:endParaRPr lang="en-US" sz="800" dirty="0"/>
          </a:p>
        </p:txBody>
      </p:sp>
      <p:graphicFrame>
        <p:nvGraphicFramePr>
          <p:cNvPr id="46" name="Chart 45"/>
          <p:cNvGraphicFramePr>
            <a:graphicFrameLocks noGrp="1"/>
          </p:cNvGraphicFramePr>
          <p:nvPr/>
        </p:nvGraphicFramePr>
        <p:xfrm>
          <a:off x="868680" y="3429000"/>
          <a:ext cx="4709160" cy="1874519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Catalogo_STGND_Documentos_v8_Riguroso/assets/logo-stgnd.png">    </p:cNvPr>
          <p:cNvPicPr>
            <a:picLocks noChangeAspect="1"/>
          </p:cNvPicPr>
          <p:nvPr/>
        </p:nvPicPr>
        <p:blipFill>
          <a:blip r:embed="rId1">
            <a:alphaModFix amt="72000"/>
          </a:blip>
          <a:stretch>
            <a:fillRect/>
          </a:stretch>
        </p:blipFill>
        <p:spPr>
          <a:xfrm>
            <a:off x="8631936" y="292608"/>
            <a:ext cx="2139696" cy="594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104120" y="0"/>
            <a:ext cx="2084832" cy="219456"/>
          </a:xfrm>
          <a:prstGeom prst="rect">
            <a:avLst/>
          </a:prstGeom>
          <a:solidFill>
            <a:srgbClr val="4C2B46"/>
          </a:solidFill>
          <a:ln w="12700">
            <a:solidFill>
              <a:srgbClr val="4C2B4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11045952" y="6656832"/>
            <a:ext cx="1143000" cy="201168"/>
          </a:xfrm>
          <a:prstGeom prst="rect">
            <a:avLst/>
          </a:prstGeom>
          <a:solidFill>
            <a:srgbClr val="E97700"/>
          </a:solidFill>
          <a:ln w="12700">
            <a:solidFill>
              <a:srgbClr val="E9770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13232" y="1005840"/>
            <a:ext cx="7680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4C2B4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Tabla de datos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713232" y="149961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6F6F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 de tabla para informes y reportes.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13232" y="1865376"/>
            <a:ext cx="493776" cy="0"/>
          </a:xfrm>
          <a:prstGeom prst="line">
            <a:avLst/>
          </a:prstGeom>
          <a:noFill/>
          <a:ln w="12700">
            <a:solidFill>
              <a:srgbClr val="E97700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5449824" y="6428232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77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━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498848" y="6565392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secretariadegenero.pjud.cl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1292840" y="1929384"/>
            <a:ext cx="530352" cy="0"/>
          </a:xfrm>
          <a:prstGeom prst="line">
            <a:avLst/>
          </a:prstGeom>
          <a:noFill/>
          <a:ln w="10160">
            <a:solidFill>
              <a:srgbClr val="E97700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914400" y="2423160"/>
            <a:ext cx="2743200" cy="310896"/>
          </a:xfrm>
          <a:prstGeom prst="rect">
            <a:avLst/>
          </a:prstGeom>
          <a:solidFill>
            <a:srgbClr val="4C2B46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Indicador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657600" y="2423160"/>
            <a:ext cx="1508760" cy="310896"/>
          </a:xfrm>
          <a:prstGeom prst="rect">
            <a:avLst/>
          </a:prstGeom>
          <a:solidFill>
            <a:srgbClr val="4C2B46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Línea base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166360" y="2423160"/>
            <a:ext cx="1508760" cy="310896"/>
          </a:xfrm>
          <a:prstGeom prst="rect">
            <a:avLst/>
          </a:prstGeom>
          <a:solidFill>
            <a:srgbClr val="4C2B46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675120" y="2423160"/>
            <a:ext cx="1508760" cy="310896"/>
          </a:xfrm>
          <a:prstGeom prst="rect">
            <a:avLst/>
          </a:prstGeom>
          <a:solidFill>
            <a:srgbClr val="4C2B46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Variación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914400" y="2752344"/>
            <a:ext cx="2743200" cy="31089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Participación observada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657600" y="2752344"/>
            <a:ext cx="1508760" cy="31089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42%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166360" y="2752344"/>
            <a:ext cx="1508760" cy="31089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58%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675120" y="2752344"/>
            <a:ext cx="1508760" cy="31089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+16 pp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14400" y="3081528"/>
            <a:ext cx="2743200" cy="310896"/>
          </a:xfrm>
          <a:prstGeom prst="rect">
            <a:avLst/>
          </a:prstGeom>
          <a:solidFill>
            <a:srgbClr val="F7F6F7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Casos analizados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3657600" y="3081528"/>
            <a:ext cx="1508760" cy="310896"/>
          </a:xfrm>
          <a:prstGeom prst="rect">
            <a:avLst/>
          </a:prstGeom>
          <a:solidFill>
            <a:srgbClr val="F7F6F7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166360" y="3081528"/>
            <a:ext cx="1508760" cy="310896"/>
          </a:xfrm>
          <a:prstGeom prst="rect">
            <a:avLst/>
          </a:prstGeom>
          <a:solidFill>
            <a:srgbClr val="F7F6F7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675120" y="3081528"/>
            <a:ext cx="1508760" cy="310896"/>
          </a:xfrm>
          <a:prstGeom prst="rect">
            <a:avLst/>
          </a:prstGeom>
          <a:solidFill>
            <a:srgbClr val="F7F6F7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+5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14400" y="3410712"/>
            <a:ext cx="2743200" cy="31089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Índice comparado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657600" y="3410712"/>
            <a:ext cx="1508760" cy="31089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3,8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166360" y="3410712"/>
            <a:ext cx="1508760" cy="31089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675120" y="3410712"/>
            <a:ext cx="1508760" cy="31089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762" tIns="762" rIns="762" bIns="762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+0,4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932688" y="42519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E977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932688" y="45262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tabla se usa como componente editorial estable para informes: encabezado púrpura, cuerpo Aptos 11/10 según densidad y grilla sin textos flotantes.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C2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-stgnd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2148840"/>
            <a:ext cx="4663440" cy="13523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4251960"/>
            <a:ext cx="91440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Gracias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92040"/>
            <a:ext cx="91440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ptos"/>
              </a:rPr>
              <a:t>secretariadegenero.pjud.cl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2B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05840"/>
            <a:ext cx="146304" cy="4389120"/>
          </a:xfrm>
          <a:prstGeom prst="rect">
            <a:avLst/>
          </a:prstGeom>
          <a:solidFill>
            <a:srgbClr val="E9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stgnd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594360"/>
            <a:ext cx="4480560" cy="12992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2743200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1">
                <a:solidFill>
                  <a:srgbClr val="E97700"/>
                </a:solidFill>
                <a:latin typeface="Aptos"/>
              </a:rPr>
              <a:t>PRESENTACIÓN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154680"/>
            <a:ext cx="877824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 Display"/>
              </a:rPr>
              <a:t>Título de la presentación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069080"/>
            <a:ext cx="80467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Subtítulo, período y unidad responsable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80644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00" b="0">
                <a:solidFill>
                  <a:srgbClr val="E97700"/>
                </a:solidFill>
                <a:latin typeface="Aptos"/>
              </a:rPr>
              <a:t>OPCIÓN DE PORTADA · MORADA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05840"/>
            <a:ext cx="146304" cy="4389120"/>
          </a:xfrm>
          <a:prstGeom prst="rect">
            <a:avLst/>
          </a:prstGeom>
          <a:solidFill>
            <a:srgbClr val="E9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594360"/>
            <a:ext cx="4480560" cy="12992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2743200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1">
                <a:solidFill>
                  <a:srgbClr val="E97700"/>
                </a:solidFill>
                <a:latin typeface="Aptos"/>
              </a:rPr>
              <a:t>PRESENTACIÓN INSTITUCIONAL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154680"/>
            <a:ext cx="877824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3400" b="1">
                <a:solidFill>
                  <a:srgbClr val="4C2B46"/>
                </a:solidFill>
                <a:latin typeface="Aptos Display"/>
              </a:rPr>
              <a:t>Título de la presentación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069080"/>
            <a:ext cx="80467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600" b="0">
                <a:solidFill>
                  <a:srgbClr val="4C2B46"/>
                </a:solidFill>
                <a:latin typeface="Aptos"/>
              </a:rPr>
              <a:t>Subtítulo, período y unidad responsable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80644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00" b="0">
                <a:solidFill>
                  <a:srgbClr val="E97700"/>
                </a:solidFill>
                <a:latin typeface="Aptos"/>
              </a:rPr>
              <a:t>OPCIÓN DE PORTADA · BLANCA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6012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500" b="1">
                <a:solidFill>
                  <a:srgbClr val="4C2B46"/>
                </a:solidFill>
                <a:latin typeface="Aptos Display"/>
              </a:rPr>
              <a:t>Distribución porcentual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6858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E97700"/>
                </a:solidFill>
                <a:latin typeface="Aptos"/>
              </a:rPr>
              <a:t>EJEMPLO NATIVO · gráfico editable en PowerPoint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1554480"/>
          <a:ext cx="896112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6012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500" b="1">
                <a:solidFill>
                  <a:srgbClr val="4C2B46"/>
                </a:solidFill>
                <a:latin typeface="Aptos Display"/>
              </a:rPr>
              <a:t>Evolución temporal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6858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E97700"/>
                </a:solidFill>
                <a:latin typeface="Aptos"/>
              </a:rPr>
              <a:t>EJEMPLO NATIVO · gráfico editable en PowerPoint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1554480"/>
          <a:ext cx="896112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6012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500" b="1">
                <a:solidFill>
                  <a:srgbClr val="4C2B46"/>
                </a:solidFill>
                <a:latin typeface="Aptos Display"/>
              </a:rPr>
              <a:t>Comparación de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6858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E97700"/>
                </a:solidFill>
                <a:latin typeface="Aptos"/>
              </a:rPr>
              <a:t>EJEMPLO NATIVO · gráfico editable en PowerPoint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1554480"/>
          <a:ext cx="896112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Poder Judicial de Chile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Plantilla PPTX STGND v8</dc:title>
  <dc:subject>Plantilla PPTX STGND v8 Riguroso</dc:subject>
  <dc:creator>Secretaría Técnica de Igualdad de Género y No Discriminación</dc:creator>
  <cp:lastModifiedBy>Secretaría Técnica de Igualdad de Género y No Discriminación</cp:lastModifiedBy>
  <cp:revision>1</cp:revision>
  <dcterms:created xsi:type="dcterms:W3CDTF">2026-08-19T20:40:55Z</dcterms:created>
  <dcterms:modified xsi:type="dcterms:W3CDTF">2026-08-19T20:40:55Z</dcterms:modified>
</cp:coreProperties>
</file>